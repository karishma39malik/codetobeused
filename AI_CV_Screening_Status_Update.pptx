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5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9096" y="305318"/>
            <a:ext cx="8275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A</a:t>
            </a:r>
            <a:r>
              <a:rPr lang="en-US" dirty="0"/>
              <a:t>gentic A</a:t>
            </a:r>
            <a:r>
              <a:rPr dirty="0"/>
              <a:t>I CV HR Screening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760" y="62138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0"/>
                </a:solidFill>
                <a:latin typeface="Montserrat"/>
              </a:defRPr>
            </a:pPr>
            <a:r>
              <a:rPr lang="en-US" dirty="0"/>
              <a:t>AI </a:t>
            </a:r>
            <a:r>
              <a:rPr dirty="0"/>
              <a:t>Project Status Update  •  Q2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51560"/>
            <a:ext cx="11640312" cy="36576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078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0"/>
                </a:solidFill>
                <a:latin typeface="Inter"/>
              </a:defRPr>
            </a:pPr>
            <a:r>
              <a:t>Intelligent AI-powered recruitment screening using semantic matching, LLM scoring, and predictive ranking to reduce manual effort and improve shortlist quality.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508760"/>
            <a:ext cx="11640312" cy="14173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9A00"/>
                </a:solidFill>
                <a:latin typeface="Montserrat"/>
              </a:defRPr>
            </a:pPr>
            <a:r>
              <a:t>▶ DELIVERY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20240"/>
            <a:ext cx="1508760" cy="77724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965960"/>
            <a:ext cx="8388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26B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W</a:t>
            </a:r>
            <a:r>
              <a:rPr lang="en-US" dirty="0">
                <a:solidFill>
                  <a:schemeClr val="bg1"/>
                </a:solidFill>
              </a:rPr>
              <a:t>eek  </a:t>
            </a:r>
            <a:r>
              <a:rPr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 - 2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1965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CC71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76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Discovery &amp;</a:t>
            </a:r>
            <a:br/>
            <a:r>
              <a:t>Stakeholder Align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4248" y="2240280"/>
            <a:ext cx="201168" cy="2540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40280" y="1920240"/>
            <a:ext cx="1508760" cy="77724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08833" y="1980900"/>
            <a:ext cx="1024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26B"/>
                </a:solidFill>
                <a:latin typeface="Montserrat"/>
              </a:defRPr>
            </a:pPr>
            <a:r>
              <a:rPr lang="en-US" dirty="0">
                <a:solidFill>
                  <a:schemeClr val="bg1"/>
                </a:solidFill>
              </a:rPr>
              <a:t>Week 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91840" y="1965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CC71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176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rPr lang="en-US" dirty="0"/>
              <a:t>Infrastructure</a:t>
            </a:r>
            <a:br>
              <a:rPr lang="en-US" dirty="0"/>
            </a:br>
            <a:r>
              <a:rPr dirty="0"/>
              <a:t>Setup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7328" y="2240280"/>
            <a:ext cx="201168" cy="2540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023360" y="1920240"/>
            <a:ext cx="1508760" cy="77724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64643" y="1939604"/>
            <a:ext cx="9968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26B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W</a:t>
            </a:r>
            <a:r>
              <a:rPr lang="en-US" dirty="0">
                <a:solidFill>
                  <a:schemeClr val="bg1"/>
                </a:solidFill>
              </a:rPr>
              <a:t>eek  3 - 5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74920" y="1965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39C12"/>
                </a:solidFill>
                <a:latin typeface="Segoe UI Symbol"/>
              </a:defRPr>
            </a:pPr>
            <a:r>
              <a:rPr dirty="0"/>
              <a:t>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176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rPr dirty="0"/>
              <a:t>Prototype Dev</a:t>
            </a:r>
            <a:br>
              <a:rPr dirty="0"/>
            </a:br>
            <a:r>
              <a:rPr dirty="0"/>
              <a:t>+ Oracle HR POC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0408" y="2240280"/>
            <a:ext cx="201168" cy="2540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806440" y="1920240"/>
            <a:ext cx="1508760" cy="77724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16706" y="1938985"/>
            <a:ext cx="830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26B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W</a:t>
            </a:r>
            <a:r>
              <a:rPr lang="en-US" dirty="0">
                <a:solidFill>
                  <a:schemeClr val="bg1"/>
                </a:solidFill>
              </a:rPr>
              <a:t>eek 5 - 6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96044" y="2122981"/>
            <a:ext cx="1371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rPr dirty="0"/>
              <a:t>Performance</a:t>
            </a:r>
            <a:br>
              <a:rPr dirty="0"/>
            </a:br>
            <a:r>
              <a:rPr dirty="0"/>
              <a:t>Tuning </a:t>
            </a:r>
            <a:r>
              <a:rPr lang="en-US" dirty="0"/>
              <a:t>,</a:t>
            </a:r>
            <a:r>
              <a:rPr dirty="0"/>
              <a:t> Feedback</a:t>
            </a:r>
            <a:r>
              <a:rPr lang="en-US" dirty="0"/>
              <a:t> &amp; Source Integration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7333488" y="2240280"/>
            <a:ext cx="201168" cy="25400"/>
          </a:xfrm>
          <a:prstGeom prst="rect">
            <a:avLst/>
          </a:prstGeom>
          <a:solidFill>
            <a:srgbClr val="5A6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89520" y="1920240"/>
            <a:ext cx="1508760" cy="77724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1965961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26B"/>
                </a:solidFill>
                <a:latin typeface="Montserrat"/>
              </a:defRPr>
            </a:pPr>
            <a:r>
              <a:rPr lang="en-US" dirty="0">
                <a:solidFill>
                  <a:schemeClr val="bg1"/>
                </a:solidFill>
              </a:rPr>
              <a:t>Week 6-8</a:t>
            </a:r>
          </a:p>
          <a:p>
            <a:pPr algn="l">
              <a:defRPr sz="900" b="1">
                <a:solidFill>
                  <a:srgbClr val="5A626B"/>
                </a:solidFill>
                <a:latin typeface="Montserrat"/>
              </a:defRPr>
            </a:pP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8641080" y="1965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5A626B"/>
                </a:solidFill>
                <a:latin typeface="Segoe UI Symbol"/>
              </a:defRPr>
            </a:pPr>
            <a:r>
              <a:rPr dirty="0"/>
              <a:t>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4180" y="21736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rPr dirty="0"/>
              <a:t>Production</a:t>
            </a:r>
            <a:br>
              <a:rPr dirty="0"/>
            </a:br>
            <a:r>
              <a:rPr dirty="0"/>
              <a:t>Readiness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16568" y="2240280"/>
            <a:ext cx="201168" cy="25400"/>
          </a:xfrm>
          <a:prstGeom prst="rect">
            <a:avLst/>
          </a:prstGeom>
          <a:solidFill>
            <a:srgbClr val="5A6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72600" y="1920240"/>
            <a:ext cx="1508760" cy="77724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1965961"/>
            <a:ext cx="10703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26B"/>
                </a:solidFill>
                <a:latin typeface="Montserrat"/>
              </a:defRPr>
            </a:pPr>
            <a:r>
              <a:rPr dirty="0">
                <a:solidFill>
                  <a:schemeClr val="bg1"/>
                </a:solidFill>
              </a:rPr>
              <a:t>W</a:t>
            </a:r>
            <a:r>
              <a:rPr lang="en-US" dirty="0">
                <a:solidFill>
                  <a:schemeClr val="bg1"/>
                </a:solidFill>
              </a:rPr>
              <a:t>eek 8 </a:t>
            </a:r>
            <a:r>
              <a:rPr dirty="0">
                <a:solidFill>
                  <a:schemeClr val="bg1"/>
                </a:solidFill>
              </a:rPr>
              <a:t>–</a:t>
            </a:r>
            <a:r>
              <a:rPr lang="en-US" dirty="0">
                <a:solidFill>
                  <a:schemeClr val="bg1"/>
                </a:solidFill>
              </a:rPr>
              <a:t>10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24160" y="1965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5A626B"/>
                </a:solidFill>
                <a:latin typeface="Segoe UI Symbol"/>
              </a:defRPr>
            </a:pPr>
            <a:r>
              <a:t>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213588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rPr dirty="0"/>
              <a:t>Go-Live &amp;</a:t>
            </a:r>
            <a:br>
              <a:rPr dirty="0"/>
            </a:br>
            <a:r>
              <a:rPr dirty="0"/>
              <a:t>Adoption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3063240"/>
            <a:ext cx="5577840" cy="169164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9A00"/>
                </a:solidFill>
                <a:latin typeface="Montserrat"/>
              </a:defRPr>
            </a:pPr>
            <a:r>
              <a:t>★ KEY ACHIEVEMENTS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4564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C419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34936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rPr dirty="0"/>
              <a:t>Semantic CV-JD matching engine built (embeddings + cosine similarity)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380390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C419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" y="38496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rPr dirty="0"/>
              <a:t>LLM scoring model live: skills, experience, education, potential signals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15137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C419"/>
                </a:solidFill>
                <a:latin typeface="Segoe UI Symbol"/>
              </a:defRPr>
            </a:pPr>
            <a:r>
              <a:t>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" y="41788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rPr dirty="0"/>
              <a:t>Oracle HR API POC completed — candidate data &amp; CV attachments retrieved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1748" y="44171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C419"/>
                </a:solidFill>
                <a:latin typeface="Segoe UI Symbol"/>
              </a:defRPr>
            </a:pPr>
            <a:r>
              <a:rPr dirty="0"/>
              <a:t>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44988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t>257 CVs queued for Emiratization campaign validation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3063240"/>
            <a:ext cx="5925312" cy="169164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0">
                <a:solidFill>
                  <a:srgbClr val="FFFFFF"/>
                </a:solidFill>
                <a:latin typeface="Inter"/>
              </a:defRPr>
            </a:pPr>
            <a:r>
              <a:rPr lang="en-AE" dirty="0"/>
              <a:t>  </a:t>
            </a:r>
          </a:p>
          <a:p>
            <a:pPr>
              <a:defRPr sz="1000" b="0">
                <a:solidFill>
                  <a:srgbClr val="FFFFFF"/>
                </a:solidFill>
                <a:latin typeface="Inter"/>
              </a:defRPr>
            </a:pPr>
            <a:r>
              <a:rPr lang="en-AE" dirty="0"/>
              <a:t>   🔗 Currently Hosted in local environment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17220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9A00"/>
                </a:solidFill>
                <a:latin typeface="Montserrat"/>
              </a:defRPr>
            </a:pPr>
            <a:r>
              <a:t>⚠ RISKS &amp; DEPENDENCIES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3064" y="3475833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rPr dirty="0"/>
              <a:t>⚡ </a:t>
            </a:r>
            <a:r>
              <a:rPr lang="en-US" dirty="0"/>
              <a:t>Production </a:t>
            </a:r>
            <a:r>
              <a:rPr dirty="0"/>
              <a:t>Infrastructure procurement delays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25175" y="4160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rPr dirty="0"/>
              <a:t>🔒</a:t>
            </a:r>
            <a:r>
              <a:rPr lang="en-US" dirty="0"/>
              <a:t> Cybersecurity approval for AI workloads</a:t>
            </a:r>
            <a:endParaRPr dirty="0"/>
          </a:p>
        </p:txBody>
      </p:sp>
      <p:sp>
        <p:nvSpPr>
          <p:cNvPr id="57" name="TextBox 56"/>
          <p:cNvSpPr txBox="1"/>
          <p:nvPr/>
        </p:nvSpPr>
        <p:spPr>
          <a:xfrm>
            <a:off x="6172200" y="4151376"/>
            <a:ext cx="2651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rPr dirty="0"/>
              <a:t>🔗 Oracle production API </a:t>
            </a:r>
            <a:r>
              <a:rPr lang="en-US" dirty="0"/>
              <a:t>&amp; data </a:t>
            </a:r>
            <a:r>
              <a:rPr dirty="0"/>
              <a:t>access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25175" y="34884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rPr dirty="0"/>
              <a:t>⏱ Recruiter feedback turnaround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38039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Inter"/>
              </a:defRPr>
            </a:pPr>
            <a:r>
              <a:rPr dirty="0"/>
              <a:t>👥 Long-term operational ownership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4892040"/>
            <a:ext cx="11640312" cy="10515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4956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9A00"/>
                </a:solidFill>
                <a:latin typeface="Montserrat"/>
              </a:defRPr>
            </a:pPr>
            <a:r>
              <a:rPr dirty="0"/>
              <a:t>◉ STATUS SUMMARY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285232"/>
            <a:ext cx="2103120" cy="50292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5330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8B0"/>
                </a:solidFill>
                <a:latin typeface="Montserrat"/>
              </a:defRPr>
            </a:pPr>
            <a:r>
              <a:rPr dirty="0"/>
              <a:t>Overall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4955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Montserrat"/>
              </a:defRPr>
            </a:pPr>
            <a:r>
              <a:t>● On Track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697480" y="5285232"/>
            <a:ext cx="2103120" cy="50292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697480" y="5330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8B0"/>
                </a:solidFill>
                <a:latin typeface="Montserrat"/>
              </a:defRPr>
            </a:pPr>
            <a:r>
              <a:t>Discovery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7480" y="54955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Montserrat"/>
              </a:defRPr>
            </a:pPr>
            <a:r>
              <a:t>✓ Done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37760" y="5285232"/>
            <a:ext cx="2103120" cy="50292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937760" y="5330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8B0"/>
                </a:solidFill>
                <a:latin typeface="Montserrat"/>
              </a:defRPr>
            </a:pPr>
            <a:r>
              <a:t>Prototype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0" y="54955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Montserrat"/>
              </a:defRPr>
            </a:pPr>
            <a:r>
              <a:t>⟳ In Progress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78040" y="5285232"/>
            <a:ext cx="2103120" cy="50292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78040" y="5330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8B0"/>
                </a:solidFill>
                <a:latin typeface="Montserrat"/>
              </a:defRPr>
            </a:pPr>
            <a:r>
              <a:t>Oracle Integration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54955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Montserrat"/>
              </a:defRPr>
            </a:pPr>
            <a:r>
              <a:t>✓ POC Done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18320" y="5285232"/>
            <a:ext cx="2103120" cy="502920"/>
          </a:xfrm>
          <a:prstGeom prst="round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418320" y="5330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8B0"/>
                </a:solidFill>
                <a:latin typeface="Montserrat"/>
              </a:defRPr>
            </a:pPr>
            <a:r>
              <a:t>Go-Live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54955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A626B"/>
                </a:solidFill>
                <a:latin typeface="Montserrat"/>
              </a:defRPr>
            </a:pPr>
            <a:r>
              <a:t>◷ Week 6–7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20040" y="349626"/>
            <a:ext cx="76200" cy="7620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20040" y="567018"/>
            <a:ext cx="76200" cy="7620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20040" y="742278"/>
            <a:ext cx="76200" cy="7620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113678-B47B-B987-9A2D-5DB85005CCAD}"/>
              </a:ext>
            </a:extLst>
          </p:cNvPr>
          <p:cNvSpPr txBox="1"/>
          <p:nvPr/>
        </p:nvSpPr>
        <p:spPr>
          <a:xfrm>
            <a:off x="6906409" y="1941217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5A626B"/>
                </a:solidFill>
                <a:latin typeface="Segoe UI Symbol"/>
              </a:defRPr>
            </a:pPr>
            <a:r>
              <a:rPr dirty="0"/>
              <a:t>◷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69B6CA-2798-6E3A-63B3-2DC987919448}"/>
              </a:ext>
            </a:extLst>
          </p:cNvPr>
          <p:cNvSpPr txBox="1"/>
          <p:nvPr/>
        </p:nvSpPr>
        <p:spPr>
          <a:xfrm>
            <a:off x="9006840" y="327059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0"/>
                </a:solidFill>
                <a:latin typeface="Montserrat"/>
              </a:defRPr>
            </a:pPr>
            <a:r>
              <a:rPr lang="en-US" dirty="0"/>
              <a:t>Department – HR</a:t>
            </a:r>
          </a:p>
          <a:p>
            <a:pPr algn="l">
              <a:defRPr sz="1200" b="0">
                <a:solidFill>
                  <a:srgbClr val="A0A8B0"/>
                </a:solidFill>
                <a:latin typeface="Montserrat"/>
              </a:defRPr>
            </a:pPr>
            <a:r>
              <a:rPr lang="en-US" dirty="0"/>
              <a:t>Subject Area - Recruitment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219</Words>
  <Application>Microsoft Office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Shyam Arora</cp:lastModifiedBy>
  <cp:revision>10</cp:revision>
  <dcterms:created xsi:type="dcterms:W3CDTF">2013-01-27T09:14:16Z</dcterms:created>
  <dcterms:modified xsi:type="dcterms:W3CDTF">2026-04-21T18:55:45Z</dcterms:modified>
  <cp:category/>
</cp:coreProperties>
</file>